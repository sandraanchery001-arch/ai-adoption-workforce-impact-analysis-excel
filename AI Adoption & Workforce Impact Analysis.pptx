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58" r:id="rId5"/>
    <p:sldId id="261" r:id="rId6"/>
    <p:sldId id="262" r:id="rId7"/>
    <p:sldId id="263" r:id="rId8"/>
    <p:sldId id="264" r:id="rId9"/>
    <p:sldId id="265" r:id="rId10"/>
    <p:sldId id="259" r:id="rId11"/>
    <p:sldId id="266" r:id="rId12"/>
    <p:sldId id="260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84913" autoAdjust="0"/>
  </p:normalViewPr>
  <p:slideViewPr>
    <p:cSldViewPr snapToGrid="0">
      <p:cViewPr varScale="1">
        <p:scale>
          <a:sx n="70" d="100"/>
          <a:sy n="70" d="100"/>
        </p:scale>
        <p:origin x="1090" y="53"/>
      </p:cViewPr>
      <p:guideLst/>
    </p:cSldViewPr>
  </p:slideViewPr>
  <p:outlineViewPr>
    <p:cViewPr>
      <p:scale>
        <a:sx n="33" d="100"/>
        <a:sy n="33" d="100"/>
      </p:scale>
      <p:origin x="0" y="-446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7ecfdabe511ee0c/Documents/AI%20Displacement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7ecfdabe511ee0c/Documents/AI%20Displacement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7ecfdabe511ee0c/Documents/AI%20Displacement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7ecfdabe511ee0c/Documents/AI%20Displacement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7ecfdabe511ee0c/Documents/AI%20Displacement%20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7ecfdabe511ee0c/Documents/AI%20Displacement%20Projec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[AI Displacement Project.xlsx]line!PivotTable1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  <a:latin typeface="Arial Rounded MT Bold" panose="020F0704030504030204" pitchFamily="34" charset="0"/>
              </a:rPr>
              <a:t>AI Adoption Trend over Time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</c:pivotFmt>
      <c:pivotFmt>
        <c:idx val="3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</c:pivotFmt>
      <c:pivotFmt>
        <c:idx val="4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</c:pivotFmt>
      <c:pivotFmt>
        <c:idx val="5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</c:pivotFmt>
      <c:pivotFmt>
        <c:idx val="6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line!$B$3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line!$A$4:$A$11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strCache>
            </c:strRef>
          </c:cat>
          <c:val>
            <c:numRef>
              <c:f>line!$B$4:$B$11</c:f>
              <c:numCache>
                <c:formatCode>General</c:formatCode>
                <c:ptCount val="7"/>
                <c:pt idx="0">
                  <c:v>0.54264062500000054</c:v>
                </c:pt>
                <c:pt idx="1">
                  <c:v>0.61006781249999897</c:v>
                </c:pt>
                <c:pt idx="2">
                  <c:v>0.66746531250000085</c:v>
                </c:pt>
                <c:pt idx="3">
                  <c:v>0.71709687500000152</c:v>
                </c:pt>
                <c:pt idx="4">
                  <c:v>0.75866062500000153</c:v>
                </c:pt>
                <c:pt idx="5">
                  <c:v>0.7944649999999992</c:v>
                </c:pt>
                <c:pt idx="6">
                  <c:v>0.81712874999999952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DF-4591-B97E-7F7304CFA9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509423"/>
        <c:axId val="125506095"/>
      </c:lineChart>
      <c:catAx>
        <c:axId val="125509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506095"/>
        <c:crosses val="autoZero"/>
        <c:auto val="1"/>
        <c:lblAlgn val="ctr"/>
        <c:lblOffset val="100"/>
        <c:noMultiLvlLbl val="0"/>
      </c:catAx>
      <c:valAx>
        <c:axId val="1255060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5094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25ADAD"/>
    </a:solidFill>
    <a:ln w="15875" cap="flat" cmpd="sng" algn="ctr">
      <a:solidFill>
        <a:schemeClr val="tx1"/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[AI Displacement Project.xlsx]bar!PivotTable2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latin typeface="Arial Rounded MT Bold" panose="020F0704030504030204" pitchFamily="34" charset="0"/>
              </a:rPr>
              <a:t>% Workforce Displaced by Industry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bar!$B$3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bar!$A$4:$A$14</c:f>
              <c:strCache>
                <c:ptCount val="10"/>
                <c:pt idx="0">
                  <c:v>Administrative &amp; Clerical</c:v>
                </c:pt>
                <c:pt idx="1">
                  <c:v>Education &amp; Research</c:v>
                </c:pt>
                <c:pt idx="2">
                  <c:v>Energy &amp; Utilities</c:v>
                </c:pt>
                <c:pt idx="3">
                  <c:v>Finance &amp; Banking</c:v>
                </c:pt>
                <c:pt idx="4">
                  <c:v>Healthcare &amp; Life Sciences</c:v>
                </c:pt>
                <c:pt idx="5">
                  <c:v>Manufacturing &amp; Industry</c:v>
                </c:pt>
                <c:pt idx="6">
                  <c:v>Media &amp; Communications</c:v>
                </c:pt>
                <c:pt idx="7">
                  <c:v>Retail &amp; E-Commerce</c:v>
                </c:pt>
                <c:pt idx="8">
                  <c:v>Technology &amp; Software</c:v>
                </c:pt>
                <c:pt idx="9">
                  <c:v>Transportation &amp; Logistics</c:v>
                </c:pt>
              </c:strCache>
            </c:strRef>
          </c:cat>
          <c:val>
            <c:numRef>
              <c:f>bar!$B$4:$B$14</c:f>
              <c:numCache>
                <c:formatCode>General</c:formatCode>
                <c:ptCount val="10"/>
                <c:pt idx="0">
                  <c:v>9.2016442307692153E-2</c:v>
                </c:pt>
                <c:pt idx="1">
                  <c:v>2.5171346153846197E-2</c:v>
                </c:pt>
                <c:pt idx="2">
                  <c:v>4.1973653846153876E-2</c:v>
                </c:pt>
                <c:pt idx="3">
                  <c:v>6.0347644230769354E-2</c:v>
                </c:pt>
                <c:pt idx="4">
                  <c:v>2.0881778846153873E-2</c:v>
                </c:pt>
                <c:pt idx="5">
                  <c:v>7.9422163461538381E-2</c:v>
                </c:pt>
                <c:pt idx="6">
                  <c:v>5.4123125000000029E-2</c:v>
                </c:pt>
                <c:pt idx="7">
                  <c:v>7.3076153846153777E-2</c:v>
                </c:pt>
                <c:pt idx="8">
                  <c:v>4.5995240384615395E-2</c:v>
                </c:pt>
                <c:pt idx="9">
                  <c:v>6.8541730769230591E-2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E0-4CD3-AF8C-D5E60BB054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67171503"/>
        <c:axId val="1367164431"/>
      </c:barChart>
      <c:catAx>
        <c:axId val="13671715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7164431"/>
        <c:crosses val="autoZero"/>
        <c:auto val="1"/>
        <c:lblAlgn val="ctr"/>
        <c:lblOffset val="100"/>
        <c:noMultiLvlLbl val="0"/>
      </c:catAx>
      <c:valAx>
        <c:axId val="136716443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671715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25ADAD"/>
    </a:solidFill>
    <a:ln w="15875" cap="flat" cmpd="sng" algn="ctr">
      <a:solidFill>
        <a:schemeClr val="tx1"/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[AI Displacement Project.xlsx]combo!PivotTable4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00" b="1" i="0" u="none" strike="noStrike" kern="1200" spc="0" baseline="0">
                <a:solidFill>
                  <a:schemeClr val="tx1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  <a:latin typeface="Arial Rounded MT Bold" panose="020F0704030504030204" pitchFamily="34" charset="0"/>
              </a:rPr>
              <a:t>Automation Risk vs Displaced Workforce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00" b="1" i="0" u="none" strike="noStrike" kern="1200" spc="0" baseline="0">
              <a:solidFill>
                <a:schemeClr val="tx1"/>
              </a:solidFill>
              <a:latin typeface="Arial Rounded MT Bold" panose="020F070403050403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6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</c:pivotFmt>
      <c:pivotFmt>
        <c:idx val="6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</c:pivotFmt>
      <c:pivotFmt>
        <c:idx val="8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</c:pivotFmt>
      <c:pivotFmt>
        <c:idx val="10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</c:pivotFmt>
      <c:pivotFmt>
        <c:idx val="12"/>
        <c:spPr>
          <a:solidFill>
            <a:schemeClr val="accent6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combo!$B$3</c:f>
              <c:strCache>
                <c:ptCount val="1"/>
                <c:pt idx="0">
                  <c:v>Average of % Workforce Displaced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combo!$A$4:$A$14</c:f>
              <c:strCache>
                <c:ptCount val="10"/>
                <c:pt idx="0">
                  <c:v>Administrative &amp; Clerical</c:v>
                </c:pt>
                <c:pt idx="1">
                  <c:v>Education &amp; Research</c:v>
                </c:pt>
                <c:pt idx="2">
                  <c:v>Energy &amp; Utilities</c:v>
                </c:pt>
                <c:pt idx="3">
                  <c:v>Finance &amp; Banking</c:v>
                </c:pt>
                <c:pt idx="4">
                  <c:v>Healthcare &amp; Life Sciences</c:v>
                </c:pt>
                <c:pt idx="5">
                  <c:v>Manufacturing &amp; Industry</c:v>
                </c:pt>
                <c:pt idx="6">
                  <c:v>Media &amp; Communications</c:v>
                </c:pt>
                <c:pt idx="7">
                  <c:v>Retail &amp; E-Commerce</c:v>
                </c:pt>
                <c:pt idx="8">
                  <c:v>Technology &amp; Software</c:v>
                </c:pt>
                <c:pt idx="9">
                  <c:v>Transportation &amp; Logistics</c:v>
                </c:pt>
              </c:strCache>
            </c:strRef>
          </c:cat>
          <c:val>
            <c:numRef>
              <c:f>combo!$B$4:$B$14</c:f>
              <c:numCache>
                <c:formatCode>General</c:formatCode>
                <c:ptCount val="10"/>
                <c:pt idx="0">
                  <c:v>9.2016442307692153E-2</c:v>
                </c:pt>
                <c:pt idx="1">
                  <c:v>2.5171346153846197E-2</c:v>
                </c:pt>
                <c:pt idx="2">
                  <c:v>4.1973653846153876E-2</c:v>
                </c:pt>
                <c:pt idx="3">
                  <c:v>6.0347644230769354E-2</c:v>
                </c:pt>
                <c:pt idx="4">
                  <c:v>2.0881778846153873E-2</c:v>
                </c:pt>
                <c:pt idx="5">
                  <c:v>7.9422163461538381E-2</c:v>
                </c:pt>
                <c:pt idx="6">
                  <c:v>5.4123125000000029E-2</c:v>
                </c:pt>
                <c:pt idx="7">
                  <c:v>7.3076153846153777E-2</c:v>
                </c:pt>
                <c:pt idx="8">
                  <c:v>4.5995240384615395E-2</c:v>
                </c:pt>
                <c:pt idx="9">
                  <c:v>6.8541730769230591E-2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F9-4417-9DA8-E47267C9F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24253776"/>
        <c:axId val="2024240464"/>
      </c:barChart>
      <c:lineChart>
        <c:grouping val="standard"/>
        <c:varyColors val="0"/>
        <c:ser>
          <c:idx val="1"/>
          <c:order val="1"/>
          <c:tx>
            <c:strRef>
              <c:f>combo!$C$3</c:f>
              <c:strCache>
                <c:ptCount val="1"/>
                <c:pt idx="0">
                  <c:v>Average of Automation Risk Score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combo!$A$4:$A$14</c:f>
              <c:strCache>
                <c:ptCount val="10"/>
                <c:pt idx="0">
                  <c:v>Administrative &amp; Clerical</c:v>
                </c:pt>
                <c:pt idx="1">
                  <c:v>Education &amp; Research</c:v>
                </c:pt>
                <c:pt idx="2">
                  <c:v>Energy &amp; Utilities</c:v>
                </c:pt>
                <c:pt idx="3">
                  <c:v>Finance &amp; Banking</c:v>
                </c:pt>
                <c:pt idx="4">
                  <c:v>Healthcare &amp; Life Sciences</c:v>
                </c:pt>
                <c:pt idx="5">
                  <c:v>Manufacturing &amp; Industry</c:v>
                </c:pt>
                <c:pt idx="6">
                  <c:v>Media &amp; Communications</c:v>
                </c:pt>
                <c:pt idx="7">
                  <c:v>Retail &amp; E-Commerce</c:v>
                </c:pt>
                <c:pt idx="8">
                  <c:v>Technology &amp; Software</c:v>
                </c:pt>
                <c:pt idx="9">
                  <c:v>Transportation &amp; Logistics</c:v>
                </c:pt>
              </c:strCache>
            </c:strRef>
          </c:cat>
          <c:val>
            <c:numRef>
              <c:f>combo!$C$4:$C$14</c:f>
              <c:numCache>
                <c:formatCode>General</c:formatCode>
                <c:ptCount val="10"/>
                <c:pt idx="0">
                  <c:v>0.78974230769230613</c:v>
                </c:pt>
                <c:pt idx="1">
                  <c:v>0.27007115384615349</c:v>
                </c:pt>
                <c:pt idx="2">
                  <c:v>0.44998798076923141</c:v>
                </c:pt>
                <c:pt idx="3">
                  <c:v>0.61024471153846183</c:v>
                </c:pt>
                <c:pt idx="4">
                  <c:v>0.21973557692307749</c:v>
                </c:pt>
                <c:pt idx="5">
                  <c:v>0.73938605769230892</c:v>
                </c:pt>
                <c:pt idx="6">
                  <c:v>0.5504442307692311</c:v>
                </c:pt>
                <c:pt idx="7">
                  <c:v>0.68923124999999985</c:v>
                </c:pt>
                <c:pt idx="8">
                  <c:v>0.37958269230769232</c:v>
                </c:pt>
                <c:pt idx="9">
                  <c:v>0.68037932692307546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F9-4417-9DA8-E47267C9F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24245872"/>
        <c:axId val="2024244624"/>
      </c:lineChart>
      <c:catAx>
        <c:axId val="20242537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Industry Sector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4240464"/>
        <c:crosses val="autoZero"/>
        <c:auto val="1"/>
        <c:lblAlgn val="ctr"/>
        <c:lblOffset val="100"/>
        <c:noMultiLvlLbl val="0"/>
      </c:catAx>
      <c:valAx>
        <c:axId val="2024240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% Workforce Displaced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4253776"/>
        <c:crosses val="autoZero"/>
        <c:crossBetween val="between"/>
      </c:valAx>
      <c:valAx>
        <c:axId val="2024244624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Automation Risk Score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4245872"/>
        <c:crosses val="max"/>
        <c:crossBetween val="between"/>
      </c:valAx>
      <c:catAx>
        <c:axId val="20242458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2424462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25ADAD"/>
    </a:solidFill>
    <a:ln w="15875" cap="flat" cmpd="sng" algn="ctr">
      <a:solidFill>
        <a:schemeClr val="tx1"/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[AI Displacement Project.xlsx]c.c!PivotTable2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pPr>
            <a:r>
              <a:rPr lang="en-US" b="1">
                <a:latin typeface="Arial Rounded MT Bold" panose="020F0704030504030204" pitchFamily="34" charset="0"/>
              </a:rPr>
              <a:t>Reskilling Program Count by Industry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Arial Rounded MT Bold" panose="020F070403050403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'c.c'!$B$3:$B$4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'c.c'!$A$5:$A$15</c:f>
              <c:strCache>
                <c:ptCount val="10"/>
                <c:pt idx="0">
                  <c:v>Administrative &amp; Clerical</c:v>
                </c:pt>
                <c:pt idx="1">
                  <c:v>Education &amp; Research</c:v>
                </c:pt>
                <c:pt idx="2">
                  <c:v>Energy &amp; Utilities</c:v>
                </c:pt>
                <c:pt idx="3">
                  <c:v>Finance &amp; Banking</c:v>
                </c:pt>
                <c:pt idx="4">
                  <c:v>Healthcare &amp; Life Sciences</c:v>
                </c:pt>
                <c:pt idx="5">
                  <c:v>Manufacturing &amp; Industry</c:v>
                </c:pt>
                <c:pt idx="6">
                  <c:v>Media &amp; Communications</c:v>
                </c:pt>
                <c:pt idx="7">
                  <c:v>Retail &amp; E-Commerce</c:v>
                </c:pt>
                <c:pt idx="8">
                  <c:v>Technology &amp; Software</c:v>
                </c:pt>
                <c:pt idx="9">
                  <c:v>Transportation &amp; Logistics</c:v>
                </c:pt>
              </c:strCache>
            </c:strRef>
          </c:cat>
          <c:val>
            <c:numRef>
              <c:f>'c.c'!$B$5:$B$15</c:f>
              <c:numCache>
                <c:formatCode>General</c:formatCode>
                <c:ptCount val="10"/>
                <c:pt idx="0">
                  <c:v>8326</c:v>
                </c:pt>
                <c:pt idx="1">
                  <c:v>8244</c:v>
                </c:pt>
                <c:pt idx="2">
                  <c:v>8195</c:v>
                </c:pt>
                <c:pt idx="3">
                  <c:v>8230</c:v>
                </c:pt>
                <c:pt idx="4">
                  <c:v>8233</c:v>
                </c:pt>
                <c:pt idx="5">
                  <c:v>8392</c:v>
                </c:pt>
                <c:pt idx="6">
                  <c:v>8253</c:v>
                </c:pt>
                <c:pt idx="7">
                  <c:v>8214</c:v>
                </c:pt>
                <c:pt idx="8">
                  <c:v>8150</c:v>
                </c:pt>
                <c:pt idx="9">
                  <c:v>8285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78-489F-80BC-B8250C64FC5C}"/>
            </c:ext>
          </c:extLst>
        </c:ser>
        <c:ser>
          <c:idx val="1"/>
          <c:order val="1"/>
          <c:tx>
            <c:strRef>
              <c:f>'c.c'!$C$3:$C$4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'c.c'!$A$5:$A$15</c:f>
              <c:strCache>
                <c:ptCount val="10"/>
                <c:pt idx="0">
                  <c:v>Administrative &amp; Clerical</c:v>
                </c:pt>
                <c:pt idx="1">
                  <c:v>Education &amp; Research</c:v>
                </c:pt>
                <c:pt idx="2">
                  <c:v>Energy &amp; Utilities</c:v>
                </c:pt>
                <c:pt idx="3">
                  <c:v>Finance &amp; Banking</c:v>
                </c:pt>
                <c:pt idx="4">
                  <c:v>Healthcare &amp; Life Sciences</c:v>
                </c:pt>
                <c:pt idx="5">
                  <c:v>Manufacturing &amp; Industry</c:v>
                </c:pt>
                <c:pt idx="6">
                  <c:v>Media &amp; Communications</c:v>
                </c:pt>
                <c:pt idx="7">
                  <c:v>Retail &amp; E-Commerce</c:v>
                </c:pt>
                <c:pt idx="8">
                  <c:v>Technology &amp; Software</c:v>
                </c:pt>
                <c:pt idx="9">
                  <c:v>Transportation &amp; Logistics</c:v>
                </c:pt>
              </c:strCache>
            </c:strRef>
          </c:cat>
          <c:val>
            <c:numRef>
              <c:f>'c.c'!$C$5:$C$15</c:f>
              <c:numCache>
                <c:formatCode>General</c:formatCode>
                <c:ptCount val="10"/>
                <c:pt idx="0">
                  <c:v>9281</c:v>
                </c:pt>
                <c:pt idx="1">
                  <c:v>9181</c:v>
                </c:pt>
                <c:pt idx="2">
                  <c:v>9269</c:v>
                </c:pt>
                <c:pt idx="3">
                  <c:v>9180</c:v>
                </c:pt>
                <c:pt idx="4">
                  <c:v>9158</c:v>
                </c:pt>
                <c:pt idx="5">
                  <c:v>9147</c:v>
                </c:pt>
                <c:pt idx="6">
                  <c:v>9180</c:v>
                </c:pt>
                <c:pt idx="7">
                  <c:v>9294</c:v>
                </c:pt>
                <c:pt idx="8">
                  <c:v>9308</c:v>
                </c:pt>
                <c:pt idx="9">
                  <c:v>9180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78-489F-80BC-B8250C64FC5C}"/>
            </c:ext>
          </c:extLst>
        </c:ser>
        <c:ser>
          <c:idx val="2"/>
          <c:order val="2"/>
          <c:tx>
            <c:strRef>
              <c:f>'c.c'!$D$3:$D$4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'c.c'!$A$5:$A$15</c:f>
              <c:strCache>
                <c:ptCount val="10"/>
                <c:pt idx="0">
                  <c:v>Administrative &amp; Clerical</c:v>
                </c:pt>
                <c:pt idx="1">
                  <c:v>Education &amp; Research</c:v>
                </c:pt>
                <c:pt idx="2">
                  <c:v>Energy &amp; Utilities</c:v>
                </c:pt>
                <c:pt idx="3">
                  <c:v>Finance &amp; Banking</c:v>
                </c:pt>
                <c:pt idx="4">
                  <c:v>Healthcare &amp; Life Sciences</c:v>
                </c:pt>
                <c:pt idx="5">
                  <c:v>Manufacturing &amp; Industry</c:v>
                </c:pt>
                <c:pt idx="6">
                  <c:v>Media &amp; Communications</c:v>
                </c:pt>
                <c:pt idx="7">
                  <c:v>Retail &amp; E-Commerce</c:v>
                </c:pt>
                <c:pt idx="8">
                  <c:v>Technology &amp; Software</c:v>
                </c:pt>
                <c:pt idx="9">
                  <c:v>Transportation &amp; Logistics</c:v>
                </c:pt>
              </c:strCache>
            </c:strRef>
          </c:cat>
          <c:val>
            <c:numRef>
              <c:f>'c.c'!$D$5:$D$15</c:f>
              <c:numCache>
                <c:formatCode>General</c:formatCode>
                <c:ptCount val="10"/>
                <c:pt idx="0">
                  <c:v>10244</c:v>
                </c:pt>
                <c:pt idx="1">
                  <c:v>10200</c:v>
                </c:pt>
                <c:pt idx="2">
                  <c:v>10323</c:v>
                </c:pt>
                <c:pt idx="3">
                  <c:v>10286</c:v>
                </c:pt>
                <c:pt idx="4">
                  <c:v>10256</c:v>
                </c:pt>
                <c:pt idx="5">
                  <c:v>10191</c:v>
                </c:pt>
                <c:pt idx="6">
                  <c:v>10263</c:v>
                </c:pt>
                <c:pt idx="7">
                  <c:v>10447</c:v>
                </c:pt>
                <c:pt idx="8">
                  <c:v>10202</c:v>
                </c:pt>
                <c:pt idx="9">
                  <c:v>10232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878-489F-80BC-B8250C64FC5C}"/>
            </c:ext>
          </c:extLst>
        </c:ser>
        <c:ser>
          <c:idx val="3"/>
          <c:order val="3"/>
          <c:tx>
            <c:strRef>
              <c:f>'c.c'!$E$3:$E$4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'c.c'!$A$5:$A$15</c:f>
              <c:strCache>
                <c:ptCount val="10"/>
                <c:pt idx="0">
                  <c:v>Administrative &amp; Clerical</c:v>
                </c:pt>
                <c:pt idx="1">
                  <c:v>Education &amp; Research</c:v>
                </c:pt>
                <c:pt idx="2">
                  <c:v>Energy &amp; Utilities</c:v>
                </c:pt>
                <c:pt idx="3">
                  <c:v>Finance &amp; Banking</c:v>
                </c:pt>
                <c:pt idx="4">
                  <c:v>Healthcare &amp; Life Sciences</c:v>
                </c:pt>
                <c:pt idx="5">
                  <c:v>Manufacturing &amp; Industry</c:v>
                </c:pt>
                <c:pt idx="6">
                  <c:v>Media &amp; Communications</c:v>
                </c:pt>
                <c:pt idx="7">
                  <c:v>Retail &amp; E-Commerce</c:v>
                </c:pt>
                <c:pt idx="8">
                  <c:v>Technology &amp; Software</c:v>
                </c:pt>
                <c:pt idx="9">
                  <c:v>Transportation &amp; Logistics</c:v>
                </c:pt>
              </c:strCache>
            </c:strRef>
          </c:cat>
          <c:val>
            <c:numRef>
              <c:f>'c.c'!$E$5:$E$15</c:f>
              <c:numCache>
                <c:formatCode>General</c:formatCode>
                <c:ptCount val="10"/>
                <c:pt idx="0">
                  <c:v>11253</c:v>
                </c:pt>
                <c:pt idx="1">
                  <c:v>11374</c:v>
                </c:pt>
                <c:pt idx="2">
                  <c:v>11278</c:v>
                </c:pt>
                <c:pt idx="3">
                  <c:v>11285</c:v>
                </c:pt>
                <c:pt idx="4">
                  <c:v>11325</c:v>
                </c:pt>
                <c:pt idx="5">
                  <c:v>11110</c:v>
                </c:pt>
                <c:pt idx="6">
                  <c:v>11391</c:v>
                </c:pt>
                <c:pt idx="7">
                  <c:v>11284</c:v>
                </c:pt>
                <c:pt idx="8">
                  <c:v>11165</c:v>
                </c:pt>
                <c:pt idx="9">
                  <c:v>11179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878-489F-80BC-B8250C64FC5C}"/>
            </c:ext>
          </c:extLst>
        </c:ser>
        <c:ser>
          <c:idx val="4"/>
          <c:order val="4"/>
          <c:tx>
            <c:strRef>
              <c:f>'c.c'!$F$3:$F$4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'c.c'!$A$5:$A$15</c:f>
              <c:strCache>
                <c:ptCount val="10"/>
                <c:pt idx="0">
                  <c:v>Administrative &amp; Clerical</c:v>
                </c:pt>
                <c:pt idx="1">
                  <c:v>Education &amp; Research</c:v>
                </c:pt>
                <c:pt idx="2">
                  <c:v>Energy &amp; Utilities</c:v>
                </c:pt>
                <c:pt idx="3">
                  <c:v>Finance &amp; Banking</c:v>
                </c:pt>
                <c:pt idx="4">
                  <c:v>Healthcare &amp; Life Sciences</c:v>
                </c:pt>
                <c:pt idx="5">
                  <c:v>Manufacturing &amp; Industry</c:v>
                </c:pt>
                <c:pt idx="6">
                  <c:v>Media &amp; Communications</c:v>
                </c:pt>
                <c:pt idx="7">
                  <c:v>Retail &amp; E-Commerce</c:v>
                </c:pt>
                <c:pt idx="8">
                  <c:v>Technology &amp; Software</c:v>
                </c:pt>
                <c:pt idx="9">
                  <c:v>Transportation &amp; Logistics</c:v>
                </c:pt>
              </c:strCache>
            </c:strRef>
          </c:cat>
          <c:val>
            <c:numRef>
              <c:f>'c.c'!$F$5:$F$15</c:f>
              <c:numCache>
                <c:formatCode>General</c:formatCode>
                <c:ptCount val="10"/>
                <c:pt idx="0">
                  <c:v>12353</c:v>
                </c:pt>
                <c:pt idx="1">
                  <c:v>12291</c:v>
                </c:pt>
                <c:pt idx="2">
                  <c:v>12342</c:v>
                </c:pt>
                <c:pt idx="3">
                  <c:v>12436</c:v>
                </c:pt>
                <c:pt idx="4">
                  <c:v>12197</c:v>
                </c:pt>
                <c:pt idx="5">
                  <c:v>12115</c:v>
                </c:pt>
                <c:pt idx="6">
                  <c:v>12250</c:v>
                </c:pt>
                <c:pt idx="7">
                  <c:v>12407</c:v>
                </c:pt>
                <c:pt idx="8">
                  <c:v>12245</c:v>
                </c:pt>
                <c:pt idx="9">
                  <c:v>12353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878-489F-80BC-B8250C64FC5C}"/>
            </c:ext>
          </c:extLst>
        </c:ser>
        <c:ser>
          <c:idx val="5"/>
          <c:order val="5"/>
          <c:tx>
            <c:strRef>
              <c:f>'c.c'!$G$3:$G$4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'c.c'!$A$5:$A$15</c:f>
              <c:strCache>
                <c:ptCount val="10"/>
                <c:pt idx="0">
                  <c:v>Administrative &amp; Clerical</c:v>
                </c:pt>
                <c:pt idx="1">
                  <c:v>Education &amp; Research</c:v>
                </c:pt>
                <c:pt idx="2">
                  <c:v>Energy &amp; Utilities</c:v>
                </c:pt>
                <c:pt idx="3">
                  <c:v>Finance &amp; Banking</c:v>
                </c:pt>
                <c:pt idx="4">
                  <c:v>Healthcare &amp; Life Sciences</c:v>
                </c:pt>
                <c:pt idx="5">
                  <c:v>Manufacturing &amp; Industry</c:v>
                </c:pt>
                <c:pt idx="6">
                  <c:v>Media &amp; Communications</c:v>
                </c:pt>
                <c:pt idx="7">
                  <c:v>Retail &amp; E-Commerce</c:v>
                </c:pt>
                <c:pt idx="8">
                  <c:v>Technology &amp; Software</c:v>
                </c:pt>
                <c:pt idx="9">
                  <c:v>Transportation &amp; Logistics</c:v>
                </c:pt>
              </c:strCache>
            </c:strRef>
          </c:cat>
          <c:val>
            <c:numRef>
              <c:f>'c.c'!$G$5:$G$15</c:f>
              <c:numCache>
                <c:formatCode>General</c:formatCode>
                <c:ptCount val="10"/>
                <c:pt idx="0">
                  <c:v>13386</c:v>
                </c:pt>
                <c:pt idx="1">
                  <c:v>13308</c:v>
                </c:pt>
                <c:pt idx="2">
                  <c:v>13216</c:v>
                </c:pt>
                <c:pt idx="3">
                  <c:v>13296</c:v>
                </c:pt>
                <c:pt idx="4">
                  <c:v>13357</c:v>
                </c:pt>
                <c:pt idx="5">
                  <c:v>13312</c:v>
                </c:pt>
                <c:pt idx="6">
                  <c:v>13359</c:v>
                </c:pt>
                <c:pt idx="7">
                  <c:v>13370</c:v>
                </c:pt>
                <c:pt idx="8">
                  <c:v>13206</c:v>
                </c:pt>
                <c:pt idx="9">
                  <c:v>13199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878-489F-80BC-B8250C64FC5C}"/>
            </c:ext>
          </c:extLst>
        </c:ser>
        <c:ser>
          <c:idx val="6"/>
          <c:order val="6"/>
          <c:tx>
            <c:strRef>
              <c:f>'c.c'!$H$3:$H$4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'c.c'!$A$5:$A$15</c:f>
              <c:strCache>
                <c:ptCount val="10"/>
                <c:pt idx="0">
                  <c:v>Administrative &amp; Clerical</c:v>
                </c:pt>
                <c:pt idx="1">
                  <c:v>Education &amp; Research</c:v>
                </c:pt>
                <c:pt idx="2">
                  <c:v>Energy &amp; Utilities</c:v>
                </c:pt>
                <c:pt idx="3">
                  <c:v>Finance &amp; Banking</c:v>
                </c:pt>
                <c:pt idx="4">
                  <c:v>Healthcare &amp; Life Sciences</c:v>
                </c:pt>
                <c:pt idx="5">
                  <c:v>Manufacturing &amp; Industry</c:v>
                </c:pt>
                <c:pt idx="6">
                  <c:v>Media &amp; Communications</c:v>
                </c:pt>
                <c:pt idx="7">
                  <c:v>Retail &amp; E-Commerce</c:v>
                </c:pt>
                <c:pt idx="8">
                  <c:v>Technology &amp; Software</c:v>
                </c:pt>
                <c:pt idx="9">
                  <c:v>Transportation &amp; Logistics</c:v>
                </c:pt>
              </c:strCache>
            </c:strRef>
          </c:cat>
          <c:val>
            <c:numRef>
              <c:f>'c.c'!$H$5:$H$15</c:f>
              <c:numCache>
                <c:formatCode>General</c:formatCode>
                <c:ptCount val="10"/>
                <c:pt idx="0">
                  <c:v>7114</c:v>
                </c:pt>
                <c:pt idx="1">
                  <c:v>7116</c:v>
                </c:pt>
                <c:pt idx="2">
                  <c:v>7171</c:v>
                </c:pt>
                <c:pt idx="3">
                  <c:v>7110</c:v>
                </c:pt>
                <c:pt idx="4">
                  <c:v>7134</c:v>
                </c:pt>
                <c:pt idx="5">
                  <c:v>7084</c:v>
                </c:pt>
                <c:pt idx="6">
                  <c:v>7304</c:v>
                </c:pt>
                <c:pt idx="7">
                  <c:v>7187</c:v>
                </c:pt>
                <c:pt idx="8">
                  <c:v>7218</c:v>
                </c:pt>
                <c:pt idx="9">
                  <c:v>7134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78-489F-80BC-B8250C64FC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95710336"/>
        <c:axId val="1295723648"/>
      </c:barChart>
      <c:catAx>
        <c:axId val="129571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5723648"/>
        <c:crosses val="autoZero"/>
        <c:auto val="1"/>
        <c:lblAlgn val="ctr"/>
        <c:lblOffset val="100"/>
        <c:noMultiLvlLbl val="0"/>
      </c:catAx>
      <c:valAx>
        <c:axId val="1295723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95710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25ADAD"/>
    </a:solidFill>
    <a:ln w="15875" cap="flat" cmpd="sng" algn="ctr">
      <a:solidFill>
        <a:schemeClr val="tx1"/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[AI Displacement Project.xlsx]pie!PivotTable1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ysClr val="windowText" lastClr="000000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pPr>
            <a:r>
              <a:rPr lang="en-US" b="1">
                <a:solidFill>
                  <a:sysClr val="windowText" lastClr="000000"/>
                </a:solidFill>
                <a:latin typeface="Arial Rounded MT Bold" panose="020F0704030504030204" pitchFamily="34" charset="0"/>
              </a:rPr>
              <a:t>Wage Premium Distribution by Region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ysClr val="windowText" lastClr="000000"/>
              </a:solidFill>
              <a:latin typeface="Arial Rounded MT Bold" panose="020F070403050403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</c:pivotFmt>
      <c:pivotFmt>
        <c:idx val="9"/>
      </c:pivotFmt>
      <c:pivotFmt>
        <c:idx val="10"/>
      </c:pivotFmt>
      <c:pivotFmt>
        <c:idx val="11"/>
      </c:pivotFmt>
      <c:pivotFmt>
        <c:idx val="12"/>
      </c:pivotFmt>
      <c:pivotFmt>
        <c:idx val="13"/>
      </c:pivotFmt>
      <c:pivotFmt>
        <c:idx val="14"/>
      </c:pivotFmt>
      <c:pivotFmt>
        <c:idx val="15"/>
      </c:pivotFmt>
      <c:pivotFmt>
        <c:idx val="16"/>
      </c:pivotFmt>
      <c:pivotFmt>
        <c:idx val="17"/>
      </c:pivotFmt>
      <c:pivotFmt>
        <c:idx val="18"/>
      </c:pivotFmt>
      <c:pivotFmt>
        <c:idx val="19"/>
      </c:pivotFmt>
      <c:pivotFmt>
        <c:idx val="20"/>
      </c:pivotFmt>
      <c:pivotFmt>
        <c:idx val="21"/>
      </c:pivotFmt>
      <c:pivotFmt>
        <c:idx val="22"/>
      </c:pivotFmt>
      <c:pivotFmt>
        <c:idx val="23"/>
      </c:pivotFmt>
      <c:pivotFmt>
        <c:idx val="24"/>
      </c:pivotFmt>
      <c:pivotFmt>
        <c:idx val="25"/>
      </c:pivotFmt>
      <c:pivotFmt>
        <c:idx val="26"/>
      </c:pivotFmt>
      <c:pivotFmt>
        <c:idx val="27"/>
      </c:pivotFmt>
      <c:pivotFmt>
        <c:idx val="28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  <c:marker>
          <c:symbol val="none"/>
        </c:marker>
      </c:pivotFmt>
      <c:pivotFmt>
        <c:idx val="29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3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31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32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33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34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35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36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37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38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39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4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41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  <c:marker>
          <c:symbol val="none"/>
        </c:marker>
      </c:pivotFmt>
      <c:pivotFmt>
        <c:idx val="42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43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44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45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46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47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48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49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5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51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52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53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54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  <c:marker>
          <c:symbol val="none"/>
        </c:marker>
      </c:pivotFmt>
      <c:pivotFmt>
        <c:idx val="55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56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57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58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59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60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61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62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63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64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65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  <c:pivotFmt>
        <c:idx val="66"/>
        <c:spPr>
          <a:gradFill rotWithShape="1">
            <a:gsLst>
              <a:gs pos="0">
                <a:schemeClr val="accent6">
                  <a:satMod val="103000"/>
                  <a:lumMod val="102000"/>
                  <a:tint val="94000"/>
                </a:schemeClr>
              </a:gs>
              <a:gs pos="50000">
                <a:schemeClr val="accent6">
                  <a:satMod val="110000"/>
                  <a:lumMod val="100000"/>
                  <a:shade val="100000"/>
                </a:schemeClr>
              </a:gs>
              <a:gs pos="100000">
                <a:schemeClr val="accent6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/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pie!$B$3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1-EFBF-46EB-9A58-48BF4A63DBAF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3-EFBF-46EB-9A58-48BF4A63DBAF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5-EFBF-46EB-9A58-48BF4A63DBAF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6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7-EFBF-46EB-9A58-48BF4A63DBAF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9-EFBF-46EB-9A58-48BF4A63DBAF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4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B-EFBF-46EB-9A58-48BF4A63DBAF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6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D-EFBF-46EB-9A58-48BF4A63DBAF}"/>
              </c:ext>
            </c:extLst>
          </c:dPt>
          <c:dPt>
            <c:idx val="7"/>
            <c:bubble3D val="0"/>
            <c:spPr>
              <a:gradFill rotWithShape="1">
                <a:gsLst>
                  <a:gs pos="0">
                    <a:schemeClr val="accent5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0F-EFBF-46EB-9A58-48BF4A63DBAF}"/>
              </c:ext>
            </c:extLst>
          </c:dPt>
          <c:dPt>
            <c:idx val="8"/>
            <c:bubble3D val="0"/>
            <c:spPr>
              <a:gradFill rotWithShape="1">
                <a:gsLst>
                  <a:gs pos="0">
                    <a:schemeClr val="accent4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11-EFBF-46EB-9A58-48BF4A63DBAF}"/>
              </c:ext>
            </c:extLst>
          </c:dPt>
          <c:dPt>
            <c:idx val="9"/>
            <c:bubble3D val="0"/>
            <c:spPr>
              <a:gradFill rotWithShape="1">
                <a:gsLst>
                  <a:gs pos="0">
                    <a:schemeClr val="accent6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13-EFBF-46EB-9A58-48BF4A63DBAF}"/>
              </c:ext>
            </c:extLst>
          </c:dPt>
          <c:dPt>
            <c:idx val="10"/>
            <c:bubble3D val="0"/>
            <c:spPr>
              <a:gradFill rotWithShape="1">
                <a:gsLst>
                  <a:gs pos="0">
                    <a:schemeClr val="accent5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15-EFBF-46EB-9A58-48BF4A63DBAF}"/>
              </c:ext>
            </c:extLst>
          </c:dPt>
          <c:dPt>
            <c:idx val="11"/>
            <c:bubble3D val="0"/>
            <c:spPr>
              <a:gradFill rotWithShape="1">
                <a:gsLst>
                  <a:gs pos="0">
                    <a:schemeClr val="accent4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/>
            </c:spPr>
            <c:extLst>
              <c:ext xmlns:c16="http://schemas.microsoft.com/office/drawing/2014/chart" uri="{C3380CC4-5D6E-409C-BE32-E72D297353CC}">
                <c16:uniqueId val="{00000017-EFBF-46EB-9A58-48BF4A63DBAF}"/>
              </c:ext>
            </c:extLst>
          </c:dPt>
          <c:cat>
            <c:strRef>
              <c:f>pie!$A$4:$A$16</c:f>
              <c:strCache>
                <c:ptCount val="12"/>
                <c:pt idx="0">
                  <c:v>Africa</c:v>
                </c:pt>
                <c:pt idx="1">
                  <c:v>Central Asia</c:v>
                </c:pt>
                <c:pt idx="2">
                  <c:v>East Asia</c:v>
                </c:pt>
                <c:pt idx="3">
                  <c:v>Europe</c:v>
                </c:pt>
                <c:pt idx="4">
                  <c:v>Europe/Asia</c:v>
                </c:pt>
                <c:pt idx="5">
                  <c:v>Latin America</c:v>
                </c:pt>
                <c:pt idx="6">
                  <c:v>Middle East</c:v>
                </c:pt>
                <c:pt idx="7">
                  <c:v>Middle East/Africa</c:v>
                </c:pt>
                <c:pt idx="8">
                  <c:v>North America</c:v>
                </c:pt>
                <c:pt idx="9">
                  <c:v>Oceania</c:v>
                </c:pt>
                <c:pt idx="10">
                  <c:v>South Asia</c:v>
                </c:pt>
                <c:pt idx="11">
                  <c:v>Southeast Asia</c:v>
                </c:pt>
              </c:strCache>
            </c:strRef>
          </c:cat>
          <c:val>
            <c:numRef>
              <c:f>pie!$B$4:$B$16</c:f>
              <c:numCache>
                <c:formatCode>General</c:formatCode>
                <c:ptCount val="12"/>
                <c:pt idx="0">
                  <c:v>1091.4379999999996</c:v>
                </c:pt>
                <c:pt idx="1">
                  <c:v>177.43700000000007</c:v>
                </c:pt>
                <c:pt idx="2">
                  <c:v>519.70400000000018</c:v>
                </c:pt>
                <c:pt idx="3">
                  <c:v>2017.1830000000004</c:v>
                </c:pt>
                <c:pt idx="4">
                  <c:v>189.89399999999995</c:v>
                </c:pt>
                <c:pt idx="5">
                  <c:v>1178.5540000000044</c:v>
                </c:pt>
                <c:pt idx="6">
                  <c:v>677.03999999999974</c:v>
                </c:pt>
                <c:pt idx="7">
                  <c:v>85.850000000000009</c:v>
                </c:pt>
                <c:pt idx="8">
                  <c:v>210.35400000000004</c:v>
                </c:pt>
                <c:pt idx="9">
                  <c:v>206.14600000000007</c:v>
                </c:pt>
                <c:pt idx="10">
                  <c:v>430.65599999999972</c:v>
                </c:pt>
                <c:pt idx="11">
                  <c:v>736.39599999999996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EFBF-46EB-9A58-48BF4A63DB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25ADAD"/>
    </a:solidFill>
    <a:ln w="15875" cap="flat" cmpd="sng" algn="ctr">
      <a:solidFill>
        <a:sysClr val="windowText" lastClr="00000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[AI Displacement Project.xlsx]area!PivotTable3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Arial Rounded MT Bold" panose="020F0704030504030204" pitchFamily="34" charset="0"/>
                <a:ea typeface="+mn-ea"/>
                <a:cs typeface="+mn-cs"/>
              </a:defRPr>
            </a:pPr>
            <a:r>
              <a:rPr lang="en-US" b="1">
                <a:latin typeface="Arial Rounded MT Bold" panose="020F0704030504030204" pitchFamily="34" charset="0"/>
              </a:rPr>
              <a:t>Net Workforce Change Over Time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Arial Rounded MT Bold" panose="020F070403050403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1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2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3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4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4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4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4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4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4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4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4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4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4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5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5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5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5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5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5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5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5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5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5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6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6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6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6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  <c:pivotFmt>
        <c:idx val="6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areaChart>
        <c:grouping val="standard"/>
        <c:varyColors val="0"/>
        <c:ser>
          <c:idx val="0"/>
          <c:order val="0"/>
          <c:tx>
            <c:strRef>
              <c:f>area!$B$3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area!$A$4:$A$11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strCache>
            </c:strRef>
          </c:cat>
          <c:val>
            <c:numRef>
              <c:f>area!$B$4:$B$11</c:f>
              <c:numCache>
                <c:formatCode>General</c:formatCode>
                <c:ptCount val="7"/>
                <c:pt idx="0">
                  <c:v>-9.3594999999999946E-3</c:v>
                </c:pt>
                <c:pt idx="1">
                  <c:v>-1.3002562500000026E-2</c:v>
                </c:pt>
                <c:pt idx="2">
                  <c:v>-1.6915312500000012E-2</c:v>
                </c:pt>
                <c:pt idx="3">
                  <c:v>-2.1269062499999977E-2</c:v>
                </c:pt>
                <c:pt idx="4">
                  <c:v>-2.5656156249999992E-2</c:v>
                </c:pt>
                <c:pt idx="5">
                  <c:v>-3.0362593749999986E-2</c:v>
                </c:pt>
                <c:pt idx="6">
                  <c:v>-3.3678812500000037E-2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53-4528-8D3F-E8CC797DA6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68410127"/>
        <c:axId val="268410959"/>
      </c:areaChart>
      <c:catAx>
        <c:axId val="2684101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8410959"/>
        <c:crosses val="autoZero"/>
        <c:auto val="1"/>
        <c:lblAlgn val="ctr"/>
        <c:lblOffset val="100"/>
        <c:noMultiLvlLbl val="0"/>
      </c:catAx>
      <c:valAx>
        <c:axId val="268410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841012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25ADAD"/>
    </a:solidFill>
    <a:ln w="15875" cap="flat" cmpd="sng" algn="ctr">
      <a:solidFill>
        <a:schemeClr val="tx1"/>
      </a:solidFill>
      <a:round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C6896-3609-4AB0-B7C8-E165D9BF789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DBD3BB-434A-45A4-BE95-90ACEACE99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8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>
                <a:effectLst/>
              </a:rPr>
              <a:t>Goal:</a:t>
            </a:r>
            <a:r>
              <a:rPr lang="en-US" dirty="0" smtClean="0">
                <a:effectLst/>
              </a:rPr>
              <a:t> Understand how AI adoption influences workforce displacement, risk, and reskilling efforts.</a:t>
            </a:r>
            <a:endParaRPr lang="en-US" dirty="0" smtClean="0"/>
          </a:p>
          <a:p>
            <a:r>
              <a:rPr lang="en-US" b="1" dirty="0" smtClean="0">
                <a:effectLst/>
              </a:rPr>
              <a:t>Aim:</a:t>
            </a:r>
            <a:r>
              <a:rPr lang="en-US" dirty="0" smtClean="0">
                <a:effectLst/>
              </a:rPr>
              <a:t> Provide insights into industry, regional, and temporal trends in workforce impact.</a:t>
            </a:r>
            <a:endParaRPr lang="en-US" dirty="0" smtClean="0"/>
          </a:p>
          <a:p>
            <a:r>
              <a:rPr lang="en-US" b="1" dirty="0" smtClean="0">
                <a:effectLst/>
              </a:rPr>
              <a:t>Purpose:</a:t>
            </a:r>
            <a:r>
              <a:rPr lang="en-US" dirty="0" smtClean="0">
                <a:effectLst/>
              </a:rPr>
              <a:t> Help decision-makers identify vulnerable sectors, evaluate reskilling efforts, and highlight opportunities for AI-driven growth.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DBD3BB-434A-45A4-BE95-90ACEACE99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055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Relevance:</a:t>
            </a:r>
            <a:r>
              <a:rPr lang="en-US" dirty="0" smtClean="0"/>
              <a:t> Shows global momentum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DBD3BB-434A-45A4-BE95-90ACEACE99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0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Relevance:</a:t>
            </a:r>
            <a:r>
              <a:rPr lang="en-US" dirty="0" smtClean="0"/>
              <a:t> Identifies vulnerable sectors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DBD3BB-434A-45A4-BE95-90ACEACE99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78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Relevance:</a:t>
            </a:r>
            <a:r>
              <a:rPr lang="en-US" dirty="0" smtClean="0"/>
              <a:t> Validates risk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DBD3BB-434A-45A4-BE95-90ACEACE99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744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>
                <a:effectLst/>
              </a:rPr>
              <a:t>Relevance:</a:t>
            </a:r>
            <a:r>
              <a:rPr lang="en-US" dirty="0" smtClean="0">
                <a:effectLst/>
              </a:rPr>
              <a:t> Shows imbalance in workforce adaptation.</a:t>
            </a:r>
            <a:endParaRPr lang="en-US" dirty="0" smtClean="0"/>
          </a:p>
          <a:p>
            <a:r>
              <a:rPr lang="en-US" dirty="0" smtClean="0"/>
              <a:t>showing strong reskilling focus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DBD3BB-434A-45A4-BE95-90ACEACE99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04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Relevance:</a:t>
            </a:r>
            <a:r>
              <a:rPr lang="en-US" dirty="0" smtClean="0"/>
              <a:t> Highlights inequality in AI benefits.</a:t>
            </a:r>
          </a:p>
          <a:p>
            <a:r>
              <a:rPr lang="en-US" dirty="0" smtClean="0"/>
              <a:t>Middle East/ Africa: 85.85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DBD3BB-434A-45A4-BE95-90ACEACE99A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864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Relevance:</a:t>
            </a:r>
            <a:r>
              <a:rPr lang="en-US" dirty="0" smtClean="0"/>
              <a:t> Suggests adaptation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DBD3BB-434A-45A4-BE95-90ACEACE99A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54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Wage premium:</a:t>
            </a:r>
            <a:r>
              <a:rPr lang="en-US" baseline="0" dirty="0" smtClean="0"/>
              <a:t> Advantage – High income countries (Europe/ East Asia) &gt; Africa/Latin America</a:t>
            </a:r>
          </a:p>
          <a:p>
            <a:r>
              <a:rPr lang="en-US" baseline="0" dirty="0" smtClean="0"/>
              <a:t>Tot 0.69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DBD3BB-434A-45A4-BE95-90ACEACE99A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46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Vulnerable industries like transportation and Administration face the greatest challenges, while reskilling efforts remain uneven.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DBD3BB-434A-45A4-BE95-90ACEACE99A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78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Adoption &amp; Workforce Impact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Excel project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282546" y="5320145"/>
            <a:ext cx="1889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SANDRA 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837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aim of this project is to analyze AI adoption trends across industries and understand its impact on job roles, skills demand, and workforce dynamics to support data-driven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3277128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0" y="730250"/>
            <a:ext cx="11029950" cy="987425"/>
          </a:xfrm>
        </p:spPr>
        <p:txBody>
          <a:bodyPr/>
          <a:lstStyle/>
          <a:p>
            <a:r>
              <a:rPr lang="en-US" dirty="0" smtClean="0"/>
              <a:t>DASHBOARD overview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08" y="934219"/>
            <a:ext cx="11029616" cy="49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11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Finding:</a:t>
            </a:r>
            <a:r>
              <a:rPr lang="en-US" dirty="0"/>
              <a:t> Adoption rates steadily increase across </a:t>
            </a:r>
            <a:r>
              <a:rPr lang="en-US" dirty="0" smtClean="0"/>
              <a:t>years</a:t>
            </a:r>
          </a:p>
          <a:p>
            <a:r>
              <a:rPr lang="en-US" b="1" dirty="0"/>
              <a:t>Insight:</a:t>
            </a:r>
            <a:r>
              <a:rPr lang="en-US" dirty="0"/>
              <a:t> Growth is consistent across years, showing momentum in AI integration</a:t>
            </a:r>
            <a:endParaRPr lang="en-US" dirty="0" smtClean="0"/>
          </a:p>
          <a:p>
            <a:r>
              <a:rPr lang="en-US" b="1" dirty="0" smtClean="0"/>
              <a:t>Suggestion</a:t>
            </a:r>
            <a:r>
              <a:rPr lang="en-US" b="1" dirty="0"/>
              <a:t>:</a:t>
            </a:r>
            <a:r>
              <a:rPr lang="en-US" dirty="0"/>
              <a:t> Track adoption to forecast workforce needs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81192" y="1928553"/>
            <a:ext cx="11029615" cy="6317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81192" y="1963958"/>
            <a:ext cx="81970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AI ADOPTION TREND OVER TIME</a:t>
            </a:r>
            <a:endParaRPr lang="en-US" sz="2800" dirty="0">
              <a:solidFill>
                <a:schemeClr val="bg1"/>
              </a:solidFill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63634250"/>
              </p:ext>
            </p:extLst>
          </p:nvPr>
        </p:nvGraphicFramePr>
        <p:xfrm>
          <a:off x="6643202" y="2770883"/>
          <a:ext cx="4967605" cy="3325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41123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% Workforce Displaced by Industry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Finding:</a:t>
            </a:r>
            <a:r>
              <a:rPr lang="en-US" dirty="0"/>
              <a:t> 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Clerical, Manufacturing</a:t>
            </a:r>
            <a:r>
              <a:rPr lang="en-US" dirty="0"/>
              <a:t>, retail, and logistics show highest </a:t>
            </a:r>
            <a:r>
              <a:rPr lang="en-US" dirty="0" smtClean="0"/>
              <a:t>displacement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Service industries less </a:t>
            </a:r>
            <a:r>
              <a:rPr lang="en-US" dirty="0" smtClean="0"/>
              <a:t>affected</a:t>
            </a:r>
          </a:p>
          <a:p>
            <a:r>
              <a:rPr lang="en-US" b="1" dirty="0" smtClean="0"/>
              <a:t>Insight</a:t>
            </a:r>
            <a:r>
              <a:rPr lang="en-US" b="1" dirty="0"/>
              <a:t>:</a:t>
            </a:r>
            <a:r>
              <a:rPr lang="en-US" dirty="0"/>
              <a:t>  </a:t>
            </a:r>
            <a:r>
              <a:rPr lang="en-US" dirty="0" smtClean="0"/>
              <a:t>Vulnerability </a:t>
            </a:r>
            <a:r>
              <a:rPr lang="en-US" dirty="0"/>
              <a:t>is sector-specific</a:t>
            </a:r>
          </a:p>
          <a:p>
            <a:r>
              <a:rPr lang="en-US" b="1" dirty="0" smtClean="0"/>
              <a:t>Suggestion</a:t>
            </a:r>
            <a:r>
              <a:rPr lang="en-US" b="1" dirty="0"/>
              <a:t>:</a:t>
            </a:r>
            <a:r>
              <a:rPr lang="en-US" dirty="0"/>
              <a:t> Target reskilling in high-displacement industries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</p:nvPr>
        </p:nvGraphicFramePr>
        <p:xfrm>
          <a:off x="581025" y="2227263"/>
          <a:ext cx="5422900" cy="3633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74095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Risk vs Workforce Displacement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Finding:</a:t>
            </a:r>
            <a:r>
              <a:rPr lang="en-US" dirty="0"/>
              <a:t> Strong correlation between risk score and </a:t>
            </a:r>
            <a:r>
              <a:rPr lang="en-US" dirty="0" smtClean="0"/>
              <a:t>displacement</a:t>
            </a:r>
          </a:p>
          <a:p>
            <a:r>
              <a:rPr lang="en-US" b="1" dirty="0"/>
              <a:t>Insight:</a:t>
            </a:r>
            <a:r>
              <a:rPr lang="en-US" dirty="0"/>
              <a:t> Industries with high risk also show higher </a:t>
            </a:r>
            <a:r>
              <a:rPr lang="en-US" dirty="0" smtClean="0"/>
              <a:t>displacement</a:t>
            </a:r>
          </a:p>
          <a:p>
            <a:r>
              <a:rPr lang="en-US" b="1" dirty="0"/>
              <a:t>Suggestion:</a:t>
            </a:r>
            <a:r>
              <a:rPr lang="en-US" dirty="0"/>
              <a:t> Use risk scores as early warning indicators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</p:nvPr>
        </p:nvGraphicFramePr>
        <p:xfrm>
          <a:off x="6188075" y="2227263"/>
          <a:ext cx="5422900" cy="3633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07337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Reskilling Program Count by Industry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Finding:</a:t>
            </a:r>
            <a:r>
              <a:rPr lang="en-US" dirty="0"/>
              <a:t> 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Steady </a:t>
            </a:r>
            <a:r>
              <a:rPr lang="en-US" dirty="0"/>
              <a:t>increase in </a:t>
            </a:r>
            <a:r>
              <a:rPr lang="en-US" dirty="0" smtClean="0"/>
              <a:t>total </a:t>
            </a:r>
            <a:r>
              <a:rPr lang="en-US" dirty="0"/>
              <a:t>reskilling programs across all </a:t>
            </a:r>
            <a:r>
              <a:rPr lang="en-US" dirty="0" smtClean="0"/>
              <a:t>industries over years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Administrative &amp; Clerical </a:t>
            </a:r>
            <a:r>
              <a:rPr lang="en-US" dirty="0" smtClean="0"/>
              <a:t>sector has highest </a:t>
            </a:r>
            <a:r>
              <a:rPr lang="en-US" dirty="0"/>
              <a:t>total (71,957) </a:t>
            </a:r>
            <a:r>
              <a:rPr lang="en-US" dirty="0" smtClean="0"/>
              <a:t>in 2025</a:t>
            </a:r>
          </a:p>
          <a:p>
            <a:r>
              <a:rPr lang="en-US" b="1" dirty="0"/>
              <a:t>Insight:</a:t>
            </a:r>
            <a:r>
              <a:rPr lang="en-US" dirty="0"/>
              <a:t> </a:t>
            </a:r>
            <a:r>
              <a:rPr lang="en-US" dirty="0" smtClean="0"/>
              <a:t>Manufacturing &amp; Logistics </a:t>
            </a:r>
            <a:r>
              <a:rPr lang="en-US" dirty="0"/>
              <a:t>lags despite high </a:t>
            </a:r>
            <a:r>
              <a:rPr lang="en-US" dirty="0" smtClean="0"/>
              <a:t>displacement</a:t>
            </a:r>
          </a:p>
          <a:p>
            <a:r>
              <a:rPr lang="en-US" b="1" dirty="0"/>
              <a:t>Suggestion:</a:t>
            </a:r>
            <a:r>
              <a:rPr lang="en-US" dirty="0"/>
              <a:t> 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Expand </a:t>
            </a:r>
            <a:r>
              <a:rPr lang="en-US" dirty="0"/>
              <a:t>reskilling in vulnerable </a:t>
            </a:r>
            <a:r>
              <a:rPr lang="en-US" dirty="0" smtClean="0"/>
              <a:t>industries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Partner with global learning platforms (IBM, Microsoft) to tailor industry‑specific reskilling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</p:nvPr>
        </p:nvGraphicFramePr>
        <p:xfrm>
          <a:off x="581025" y="2227263"/>
          <a:ext cx="5422900" cy="3633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0337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Wage Premium Distribution by Region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Finding:  Europe and Latin America show highest wage premiums</a:t>
            </a:r>
          </a:p>
          <a:p>
            <a:r>
              <a:rPr lang="en-US" dirty="0" smtClean="0"/>
              <a:t>Insight: AI skills are more economically rewarded in developed economies</a:t>
            </a:r>
          </a:p>
          <a:p>
            <a:r>
              <a:rPr lang="en-US" dirty="0" smtClean="0"/>
              <a:t>Suggestion: Promote AI skill development in emerging economies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</p:nvPr>
        </p:nvGraphicFramePr>
        <p:xfrm>
          <a:off x="6188075" y="2227263"/>
          <a:ext cx="5422900" cy="3633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62736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 Workforce Change (%) Over Time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Finding:</a:t>
            </a:r>
            <a:r>
              <a:rPr lang="en-US" dirty="0"/>
              <a:t> Net workforce change is negative overall, but stabilizes in later </a:t>
            </a:r>
            <a:r>
              <a:rPr lang="en-US" dirty="0" smtClean="0"/>
              <a:t>years</a:t>
            </a:r>
          </a:p>
          <a:p>
            <a:r>
              <a:rPr lang="en-US" b="1" dirty="0"/>
              <a:t>Insight:</a:t>
            </a:r>
            <a:r>
              <a:rPr lang="en-US" dirty="0"/>
              <a:t> Job losses peak early, then slow </a:t>
            </a:r>
            <a:r>
              <a:rPr lang="en-US" dirty="0" smtClean="0"/>
              <a:t>down</a:t>
            </a:r>
          </a:p>
          <a:p>
            <a:r>
              <a:rPr lang="en-US" b="1" dirty="0"/>
              <a:t>Suggestion:</a:t>
            </a:r>
            <a:r>
              <a:rPr lang="en-US" dirty="0"/>
              <a:t> Monitor recovery trends and support industries with persistent losses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</p:nvPr>
        </p:nvGraphicFramePr>
        <p:xfrm>
          <a:off x="581025" y="2227263"/>
          <a:ext cx="5422900" cy="3633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71065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adoption is accelerating globally (Index </a:t>
            </a:r>
            <a:r>
              <a:rPr lang="en-US" dirty="0" smtClean="0"/>
              <a:t>~0.82), </a:t>
            </a:r>
            <a:r>
              <a:rPr lang="en-US" dirty="0"/>
              <a:t>but uneven across industries and </a:t>
            </a:r>
            <a:r>
              <a:rPr lang="en-US" dirty="0" smtClean="0"/>
              <a:t>regions</a:t>
            </a:r>
          </a:p>
          <a:p>
            <a:r>
              <a:rPr lang="en-US" dirty="0"/>
              <a:t>Workforce displacement </a:t>
            </a:r>
            <a:r>
              <a:rPr lang="en-US" dirty="0" smtClean="0"/>
              <a:t>(5.6%) is </a:t>
            </a:r>
            <a:r>
              <a:rPr lang="en-US" dirty="0"/>
              <a:t>concentrated in manufacturing and low-income </a:t>
            </a:r>
            <a:r>
              <a:rPr lang="en-US" dirty="0" smtClean="0"/>
              <a:t>regions</a:t>
            </a:r>
          </a:p>
          <a:p>
            <a:r>
              <a:rPr lang="en-US" dirty="0"/>
              <a:t>Net workforce change </a:t>
            </a:r>
            <a:r>
              <a:rPr lang="en-US" dirty="0" smtClean="0"/>
              <a:t>is sharply </a:t>
            </a:r>
            <a:r>
              <a:rPr lang="en-US" dirty="0"/>
              <a:t>negative, but reskilling programs mitigate long-term </a:t>
            </a:r>
            <a:r>
              <a:rPr lang="en-US" dirty="0" smtClean="0"/>
              <a:t>impact</a:t>
            </a:r>
          </a:p>
          <a:p>
            <a:r>
              <a:rPr lang="en-US" dirty="0"/>
              <a:t>Reskilling programs are growing, but high‑risk industries (Manufacturing, Transportation) lag behind in program counts</a:t>
            </a:r>
          </a:p>
          <a:p>
            <a:r>
              <a:rPr lang="en-US" dirty="0" smtClean="0"/>
              <a:t>Wage </a:t>
            </a:r>
            <a:r>
              <a:rPr lang="en-US" dirty="0"/>
              <a:t>premiums for AI skills highlight opportunities for workers who </a:t>
            </a:r>
            <a:r>
              <a:rPr lang="en-US" dirty="0" smtClean="0"/>
              <a:t>adapt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685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Suggestions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Policy Recommendation:</a:t>
            </a:r>
            <a:r>
              <a:rPr lang="en-US" dirty="0"/>
              <a:t> Expand reskilling programs in vulnerable </a:t>
            </a:r>
            <a:r>
              <a:rPr lang="en-US" dirty="0" smtClean="0"/>
              <a:t>industries</a:t>
            </a:r>
          </a:p>
          <a:p>
            <a:r>
              <a:rPr lang="en-US" b="1" dirty="0"/>
              <a:t>Business Strategy:</a:t>
            </a:r>
            <a:r>
              <a:rPr lang="en-US" dirty="0"/>
              <a:t> Invest in AI skill development to capture wage </a:t>
            </a:r>
            <a:r>
              <a:rPr lang="en-US" dirty="0" smtClean="0"/>
              <a:t>premiums</a:t>
            </a:r>
          </a:p>
          <a:p>
            <a:r>
              <a:rPr lang="en-US" b="1" dirty="0"/>
              <a:t>Education:</a:t>
            </a:r>
            <a:r>
              <a:rPr lang="en-US" dirty="0"/>
              <a:t> Promote AI literacy in emerging economies</a:t>
            </a:r>
            <a:endParaRPr lang="en-US" dirty="0" smtClean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39760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While global learning platforms from IBM and Microsoft provide valuable opportunities, the analysis shows that </a:t>
            </a:r>
            <a:r>
              <a:rPr lang="en-US" b="1" dirty="0"/>
              <a:t>reskilling efforts remain uneven across industries and regions</a:t>
            </a:r>
            <a:r>
              <a:rPr lang="en-US" dirty="0"/>
              <a:t>. Vulnerable sectors with the highest displacement risk are not benefiting proportionally. The key is to </a:t>
            </a:r>
            <a:r>
              <a:rPr lang="en-US" b="1" dirty="0"/>
              <a:t>bridge the gap between global resources and local workforce needs</a:t>
            </a:r>
            <a:r>
              <a:rPr lang="en-US" dirty="0"/>
              <a:t>, ensuring that reskilling is accessible, industry-specific, and aligned with the pace of AI adoption.</a:t>
            </a:r>
          </a:p>
        </p:txBody>
      </p:sp>
    </p:spTree>
    <p:extLst>
      <p:ext uri="{BB962C8B-B14F-4D97-AF65-F5344CB8AC3E}">
        <p14:creationId xmlns:p14="http://schemas.microsoft.com/office/powerpoint/2010/main" val="464652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ank You Papercut, Thank You Cut Files Graphic by assalwaassalwa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97" y="2612572"/>
            <a:ext cx="10148911" cy="1707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043207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223</TotalTime>
  <Words>638</Words>
  <Application>Microsoft Office PowerPoint</Application>
  <PresentationFormat>Widescreen</PresentationFormat>
  <Paragraphs>81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Rounded MT Bold</vt:lpstr>
      <vt:lpstr>Calibri</vt:lpstr>
      <vt:lpstr>Gill Sans MT</vt:lpstr>
      <vt:lpstr>Wingdings 2</vt:lpstr>
      <vt:lpstr>Dividend</vt:lpstr>
      <vt:lpstr>AI Adoption &amp; Workforce Impact Analysis</vt:lpstr>
      <vt:lpstr>introduction</vt:lpstr>
      <vt:lpstr>DASHBOARD overview</vt:lpstr>
      <vt:lpstr>analysis</vt:lpstr>
      <vt:lpstr>% Workforce Displaced by Industry</vt:lpstr>
      <vt:lpstr>Automation Risk vs Workforce Displacement</vt:lpstr>
      <vt:lpstr>Reskilling Program Count by Industry</vt:lpstr>
      <vt:lpstr>Wage Premium Distribution by Region</vt:lpstr>
      <vt:lpstr>Net Workforce Change (%) Over Time</vt:lpstr>
      <vt:lpstr>findings</vt:lpstr>
      <vt:lpstr>Suggestions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Budget vs Actual Financial Analysis</dc:title>
  <dc:creator>HP</dc:creator>
  <cp:lastModifiedBy>HP</cp:lastModifiedBy>
  <cp:revision>20</cp:revision>
  <dcterms:created xsi:type="dcterms:W3CDTF">2026-05-02T10:36:48Z</dcterms:created>
  <dcterms:modified xsi:type="dcterms:W3CDTF">2026-05-16T05:08:24Z</dcterms:modified>
</cp:coreProperties>
</file>